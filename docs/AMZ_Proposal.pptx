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am Name and Members" id="{a1446d6a-7d4d-8458-78ee-edc171129191}">
          <p14:sldIdLst>
            <p14:sldId id="256"/>
          </p14:sldIdLst>
        </p14:section>
        <p14:section name="Problem and Its Characteristics" id="{4e89e286-bf20-2367-1f3d-a9f6525688fe}">
          <p14:sldIdLst>
            <p14:sldId id="257"/>
            <p14:sldId id="258"/>
          </p14:sldIdLst>
        </p14:section>
        <p14:section name="Past Approaches" id="{a82146f0-52df-8374-008d-5b6eb240da96}">
          <p14:sldIdLst>
            <p14:sldId id="259"/>
            <p14:sldId id="260"/>
            <p14:sldId id="261"/>
            <p14:sldId id="262"/>
            <p14:sldId id="263"/>
          </p14:sldIdLst>
        </p14:section>
        <p14:section name="Plan and Approach" id="{a6a29790-271c-f5e3-6c33-d12fa7c4e6bf}">
          <p14:sldIdLst>
            <p14:sldId id="264"/>
            <p14:sldId id="265"/>
          </p14:sldIdLst>
        </p14:section>
        <p14:section name="Team Member Tasks" id="{52aeb958-805d-6835-b1a1-54a5ef3c3a57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Masaki (≈30 s). Introduce Team AMZ and the three members. One sentence on the project: we compare four backtracking solvers that differ by one CSP technique each, and measure how much search each technique removes on 500 rated Sudoku puzzles. Point to the GitHub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Masaki (≈1 min). State the problem in plain words. Then scope, what we leave out, and our constraints. Close with why we chose it: it is on the project list, needs no labeling, and answers are checkable.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Zachary (≈1 min). Use Fig. 1: each cell is a variable with a domain, and one cell constrains 20 neighbors. That is why the state is factored. AI fits because the search space is exponential and CSP techniques prune it. Name Chapter 6 and Chapter 3. Finish with the four measures and the BT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Masaki (≈1 min). Problem, approach in one breath, then be honest that the paper has no timing study, only worked examples. The number to say: 120 possible orders, 7 valid. What we take: the three improvements to backtracking it names. What we do differently: actually measure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Zachary (≈1 min). Explain the two halves of the paper and that we only use the solver comparison. Numbers: 73.33% of photos fully read, 98.835% of digits, solving tested from 68 down to 17 clues with a 3600-second cap. Their conclusion was that backtracking is best, which is why we keep backtracking and improve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Aoto (≈1 min). Mention it is a 3D paper but tests the same ideas we use: candidate lists and fewest-candidates-first. Numbers: the earlier solver finished 34 of 34 easy but only 1 of 21 moderate; the new one finished all 55 easy and moderate, and the layered version all 75. We take MRV and the candidate list; we isolate each technique.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Zachary (≈40 s). Every non-peer-reviewed source we used.
- Kaggle dataset: 3 Million Sudoku Puzzles with Ratings: https://www.kaggle.com/datasets/radcliffe/3-million-sudoku-puzzles-with-ratings
- OpenML copy of the same dataset: https://api.openml.org/d/43476
- Bhattarai et al., arXiv:2507.09708 (preprint): https://arxiv.org/abs/2507.09708
- Berggren &amp; Nilsson, KTH bachelor thesis (2012): https://www.csc.kth.se/utbildning/kandidatexjobb/datateknik/2012/sammanfattning/Patrik_Berggren_David_Nilsson.abstract.html
- Russell &amp; Norvig, AIMA 4th ed. (course textbook): https://aima.cs.berkeley.edu/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Aoto (≈40 s). Each idea is tied to the paper or source it came from and to the place we use it. All are within reach this semester.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Masaki introduces the ladder (≈1 min), then each owner says one sentence on their own model: Masaki BT+MRV, Zachary forward checking, Aoto MAC. All four run on the same 500 puzzles and report the same measures.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Zachary walks the timeline (≈40 s); Aoto covers the four risks and what we will do (≈40 s). Dates follow the course calendar and may shift with the midpoint deadline.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Aoto (≈30 s). Each member's paper, slides, and specific tasks. Replace every bracketed line with real, specific tasks before submitting; vague entries earn no credit.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74980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radcliffe/3-million-sudoku-puzzles-with-ratings" TargetMode="External"/><Relationship Id="rId2" Type="http://schemas.openxmlformats.org/officeDocument/2006/relationships/hyperlink" Target="https://api.openml.org/d/43476" TargetMode="External"/><Relationship Id="rId3" Type="http://schemas.openxmlformats.org/officeDocument/2006/relationships/hyperlink" Target="https://arxiv.org/abs/2507.09708" TargetMode="External"/><Relationship Id="rId4" Type="http://schemas.openxmlformats.org/officeDocument/2006/relationships/hyperlink" Target="https://www.csc.kth.se/utbildning/kandidatexjobb/datateknik/2012/sammanfattning/Patrik_Berggren_David_Nilsson.abstract.html" TargetMode="External"/><Relationship Id="rId5" Type="http://schemas.openxmlformats.org/officeDocument/2006/relationships/hyperlink" Target="https://aima.cs.berkeley.edu/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Search Does Constraint Propagation Save? Comparing Four Backtracking Solvers on Rated 9×9 Sudoku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AMZ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348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Masaki Kajikuri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Aoto Kubota</a:t>
            </a:r>
            <a:endParaRPr lang="en-US" sz="2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Lenfesty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852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github.com/[team-org]/[repo-name]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3368 · Fall 2026 · Project Proposal</a:t>
            </a:r>
            <a:endParaRPr lang="en-US" sz="1800" dirty="0"/>
          </a:p>
        </p:txBody>
      </p:sp>
      <p:sp>
        <p:nvSpPr>
          <p:cNvPr id="7" name="motif-0-0"/>
          <p:cNvSpPr/>
          <p:nvPr/>
        </p:nvSpPr>
        <p:spPr>
          <a:xfrm>
            <a:off x="8778240" y="1737360"/>
            <a:ext cx="868680" cy="868680"/>
          </a:xfrm>
          <a:prstGeom prst="rect">
            <a:avLst/>
          </a:prstGeom>
          <a:solidFill>
            <a:srgbClr val="3B4658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77824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9" name="motif-0-1"/>
          <p:cNvSpPr/>
          <p:nvPr/>
        </p:nvSpPr>
        <p:spPr>
          <a:xfrm>
            <a:off x="9646920" y="1737360"/>
            <a:ext cx="868680" cy="868680"/>
          </a:xfrm>
          <a:prstGeom prst="rect">
            <a:avLst/>
          </a:prstGeom>
          <a:solidFill>
            <a:srgbClr val="3B4658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46920" y="17373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1" name="motif-0-2"/>
          <p:cNvSpPr/>
          <p:nvPr/>
        </p:nvSpPr>
        <p:spPr>
          <a:xfrm>
            <a:off x="10515600" y="1737360"/>
            <a:ext cx="868680" cy="868680"/>
          </a:xfrm>
          <a:prstGeom prst="rect">
            <a:avLst/>
          </a:prstGeom>
          <a:solidFill>
            <a:srgbClr val="3B4658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12" name="motif-1-0"/>
          <p:cNvSpPr/>
          <p:nvPr/>
        </p:nvSpPr>
        <p:spPr>
          <a:xfrm>
            <a:off x="8778240" y="2606040"/>
            <a:ext cx="868680" cy="868680"/>
          </a:xfrm>
          <a:prstGeom prst="rect">
            <a:avLst/>
          </a:prstGeom>
          <a:solidFill>
            <a:srgbClr val="D9682B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7824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14" name="motif-1-1"/>
          <p:cNvSpPr/>
          <p:nvPr/>
        </p:nvSpPr>
        <p:spPr>
          <a:xfrm>
            <a:off x="9646920" y="2606040"/>
            <a:ext cx="868680" cy="868680"/>
          </a:xfrm>
          <a:prstGeom prst="rect">
            <a:avLst/>
          </a:prstGeom>
          <a:solidFill>
            <a:srgbClr val="3B4658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46920" y="2606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16" name="motif-1-2"/>
          <p:cNvSpPr/>
          <p:nvPr/>
        </p:nvSpPr>
        <p:spPr>
          <a:xfrm>
            <a:off x="10515600" y="2606040"/>
            <a:ext cx="868680" cy="868680"/>
          </a:xfrm>
          <a:prstGeom prst="rect">
            <a:avLst/>
          </a:prstGeom>
          <a:solidFill>
            <a:srgbClr val="3B4658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17" name="motif-2-0"/>
          <p:cNvSpPr/>
          <p:nvPr/>
        </p:nvSpPr>
        <p:spPr>
          <a:xfrm>
            <a:off x="8778240" y="3474720"/>
            <a:ext cx="868680" cy="868680"/>
          </a:xfrm>
          <a:prstGeom prst="rect">
            <a:avLst/>
          </a:prstGeom>
          <a:solidFill>
            <a:srgbClr val="3B4658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0" y="3474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19" name="motif-2-1"/>
          <p:cNvSpPr/>
          <p:nvPr/>
        </p:nvSpPr>
        <p:spPr>
          <a:xfrm>
            <a:off x="9646920" y="3474720"/>
            <a:ext cx="868680" cy="868680"/>
          </a:xfrm>
          <a:prstGeom prst="rect">
            <a:avLst/>
          </a:prstGeom>
          <a:solidFill>
            <a:srgbClr val="3B4658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20" name="motif-2-2"/>
          <p:cNvSpPr/>
          <p:nvPr/>
        </p:nvSpPr>
        <p:spPr>
          <a:xfrm>
            <a:off x="10515600" y="3474720"/>
            <a:ext cx="868680" cy="868680"/>
          </a:xfrm>
          <a:prstGeom prst="rect">
            <a:avLst/>
          </a:prstGeom>
          <a:solidFill>
            <a:srgbClr val="3B4658"/>
          </a:solidFill>
          <a:ln w="12700">
            <a:solidFill>
              <a:srgbClr val="5A677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0" y="3474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what does each CSP technique actually save?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standard 9×9 Sudoku with backtracking search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much MRV, forward checking and arc consistency cut the search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a puzzle's clue count predicts that effort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chose it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394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 the course project list (CSP puzzle solving)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collection or labeling needed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can be checked against a known solution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can own one clean solver variant</a:t>
            </a:r>
            <a:endParaRPr lang="en-US" sz="1800" dirty="0"/>
          </a:p>
        </p:txBody>
      </p:sp>
      <p:sp>
        <p:nvSpPr>
          <p:cNvPr id="7" name="scope-card"/>
          <p:cNvSpPr/>
          <p:nvPr/>
        </p:nvSpPr>
        <p:spPr>
          <a:xfrm>
            <a:off x="6355080" y="1234440"/>
            <a:ext cx="5287975" cy="5166360"/>
          </a:xfrm>
          <a:prstGeom prst="roundRect">
            <a:avLst>
              <a:gd name="adj" fmla="val 14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141732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1810512"/>
            <a:ext cx="4739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9×9 grids only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solvers × 500 rated puzzles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4320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(left out)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136392"/>
            <a:ext cx="473933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sizes and variants (e.g., 3D, Killer)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puzzles from images; generating puzzles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annealing, genetic and ML solvers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4526280"/>
            <a:ext cx="4739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4919472"/>
            <a:ext cx="4739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Python CSP model for all solvers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limit per run; CPU-only laptops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puzzles with exactly one 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Factored state, CSP search, and how we will measure it</a:t>
            </a:r>
            <a:endParaRPr lang="en-US" sz="3200" dirty="0"/>
          </a:p>
        </p:txBody>
      </p:sp>
      <p:sp>
        <p:nvSpPr>
          <p:cNvPr id="3" name="cell-0-0"/>
          <p:cNvSpPr/>
          <p:nvPr/>
        </p:nvSpPr>
        <p:spPr>
          <a:xfrm>
            <a:off x="548640" y="13258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" name="cell-0-1"/>
          <p:cNvSpPr/>
          <p:nvPr/>
        </p:nvSpPr>
        <p:spPr>
          <a:xfrm>
            <a:off x="944880" y="13258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" name="cell-0-2"/>
          <p:cNvSpPr/>
          <p:nvPr/>
        </p:nvSpPr>
        <p:spPr>
          <a:xfrm>
            <a:off x="1341120" y="13258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" name="cell-0-3"/>
          <p:cNvSpPr/>
          <p:nvPr/>
        </p:nvSpPr>
        <p:spPr>
          <a:xfrm>
            <a:off x="1737360" y="13258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" name="cell-0-4"/>
          <p:cNvSpPr/>
          <p:nvPr/>
        </p:nvSpPr>
        <p:spPr>
          <a:xfrm>
            <a:off x="2133600" y="132588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8" name="cell-0-5"/>
          <p:cNvSpPr/>
          <p:nvPr/>
        </p:nvSpPr>
        <p:spPr>
          <a:xfrm>
            <a:off x="2529840" y="13258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9" name="cell-0-6"/>
          <p:cNvSpPr/>
          <p:nvPr/>
        </p:nvSpPr>
        <p:spPr>
          <a:xfrm>
            <a:off x="2926080" y="13258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0" name="cell-0-7"/>
          <p:cNvSpPr/>
          <p:nvPr/>
        </p:nvSpPr>
        <p:spPr>
          <a:xfrm>
            <a:off x="3322320" y="13258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1" name="cell-0-8"/>
          <p:cNvSpPr/>
          <p:nvPr/>
        </p:nvSpPr>
        <p:spPr>
          <a:xfrm>
            <a:off x="3718560" y="13258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2" name="cell-1-0"/>
          <p:cNvSpPr/>
          <p:nvPr/>
        </p:nvSpPr>
        <p:spPr>
          <a:xfrm>
            <a:off x="548640" y="17221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3" name="cell-1-1"/>
          <p:cNvSpPr/>
          <p:nvPr/>
        </p:nvSpPr>
        <p:spPr>
          <a:xfrm>
            <a:off x="944880" y="17221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4" name="cell-1-2"/>
          <p:cNvSpPr/>
          <p:nvPr/>
        </p:nvSpPr>
        <p:spPr>
          <a:xfrm>
            <a:off x="1341120" y="17221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5" name="cell-1-3"/>
          <p:cNvSpPr/>
          <p:nvPr/>
        </p:nvSpPr>
        <p:spPr>
          <a:xfrm>
            <a:off x="1737360" y="17221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6" name="cell-1-4"/>
          <p:cNvSpPr/>
          <p:nvPr/>
        </p:nvSpPr>
        <p:spPr>
          <a:xfrm>
            <a:off x="2133600" y="172212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7" name="cell-1-5"/>
          <p:cNvSpPr/>
          <p:nvPr/>
        </p:nvSpPr>
        <p:spPr>
          <a:xfrm>
            <a:off x="2529840" y="17221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8" name="cell-1-6"/>
          <p:cNvSpPr/>
          <p:nvPr/>
        </p:nvSpPr>
        <p:spPr>
          <a:xfrm>
            <a:off x="2926080" y="17221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19" name="cell-1-7"/>
          <p:cNvSpPr/>
          <p:nvPr/>
        </p:nvSpPr>
        <p:spPr>
          <a:xfrm>
            <a:off x="3322320" y="17221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0" name="cell-1-8"/>
          <p:cNvSpPr/>
          <p:nvPr/>
        </p:nvSpPr>
        <p:spPr>
          <a:xfrm>
            <a:off x="3718560" y="17221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1" name="cell-2-0"/>
          <p:cNvSpPr/>
          <p:nvPr/>
        </p:nvSpPr>
        <p:spPr>
          <a:xfrm>
            <a:off x="548640" y="21183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2" name="cell-2-1"/>
          <p:cNvSpPr/>
          <p:nvPr/>
        </p:nvSpPr>
        <p:spPr>
          <a:xfrm>
            <a:off x="944880" y="21183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3" name="cell-2-2"/>
          <p:cNvSpPr/>
          <p:nvPr/>
        </p:nvSpPr>
        <p:spPr>
          <a:xfrm>
            <a:off x="1341120" y="21183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4" name="cell-2-3"/>
          <p:cNvSpPr/>
          <p:nvPr/>
        </p:nvSpPr>
        <p:spPr>
          <a:xfrm>
            <a:off x="1737360" y="21183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5" name="cell-2-4"/>
          <p:cNvSpPr/>
          <p:nvPr/>
        </p:nvSpPr>
        <p:spPr>
          <a:xfrm>
            <a:off x="2133600" y="211836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6" name="cell-2-5"/>
          <p:cNvSpPr/>
          <p:nvPr/>
        </p:nvSpPr>
        <p:spPr>
          <a:xfrm>
            <a:off x="2529840" y="21183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7" name="cell-2-6"/>
          <p:cNvSpPr/>
          <p:nvPr/>
        </p:nvSpPr>
        <p:spPr>
          <a:xfrm>
            <a:off x="2926080" y="21183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8" name="cell-2-7"/>
          <p:cNvSpPr/>
          <p:nvPr/>
        </p:nvSpPr>
        <p:spPr>
          <a:xfrm>
            <a:off x="3322320" y="21183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29" name="cell-2-8"/>
          <p:cNvSpPr/>
          <p:nvPr/>
        </p:nvSpPr>
        <p:spPr>
          <a:xfrm>
            <a:off x="3718560" y="21183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0" name="cell-3-0"/>
          <p:cNvSpPr/>
          <p:nvPr/>
        </p:nvSpPr>
        <p:spPr>
          <a:xfrm>
            <a:off x="548640" y="25146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1" name="cell-3-1"/>
          <p:cNvSpPr/>
          <p:nvPr/>
        </p:nvSpPr>
        <p:spPr>
          <a:xfrm>
            <a:off x="944880" y="25146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2" name="cell-3-2"/>
          <p:cNvSpPr/>
          <p:nvPr/>
        </p:nvSpPr>
        <p:spPr>
          <a:xfrm>
            <a:off x="1341120" y="25146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3" name="cell-3-3"/>
          <p:cNvSpPr/>
          <p:nvPr/>
        </p:nvSpPr>
        <p:spPr>
          <a:xfrm>
            <a:off x="1737360" y="251460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4" name="cell-3-4"/>
          <p:cNvSpPr/>
          <p:nvPr/>
        </p:nvSpPr>
        <p:spPr>
          <a:xfrm>
            <a:off x="2133600" y="251460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5" name="cell-3-5"/>
          <p:cNvSpPr/>
          <p:nvPr/>
        </p:nvSpPr>
        <p:spPr>
          <a:xfrm>
            <a:off x="2529840" y="251460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6" name="cell-3-6"/>
          <p:cNvSpPr/>
          <p:nvPr/>
        </p:nvSpPr>
        <p:spPr>
          <a:xfrm>
            <a:off x="2926080" y="25146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7" name="cell-3-7"/>
          <p:cNvSpPr/>
          <p:nvPr/>
        </p:nvSpPr>
        <p:spPr>
          <a:xfrm>
            <a:off x="3322320" y="25146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8" name="cell-3-8"/>
          <p:cNvSpPr/>
          <p:nvPr/>
        </p:nvSpPr>
        <p:spPr>
          <a:xfrm>
            <a:off x="3718560" y="25146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39" name="cell-4-0"/>
          <p:cNvSpPr/>
          <p:nvPr/>
        </p:nvSpPr>
        <p:spPr>
          <a:xfrm>
            <a:off x="548640" y="291084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0" name="cell-4-1"/>
          <p:cNvSpPr/>
          <p:nvPr/>
        </p:nvSpPr>
        <p:spPr>
          <a:xfrm>
            <a:off x="944880" y="291084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1" name="cell-4-2"/>
          <p:cNvSpPr/>
          <p:nvPr/>
        </p:nvSpPr>
        <p:spPr>
          <a:xfrm>
            <a:off x="1341120" y="291084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2" name="cell-4-3"/>
          <p:cNvSpPr/>
          <p:nvPr/>
        </p:nvSpPr>
        <p:spPr>
          <a:xfrm>
            <a:off x="1737360" y="291084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3" name="cell-4-4"/>
          <p:cNvSpPr/>
          <p:nvPr/>
        </p:nvSpPr>
        <p:spPr>
          <a:xfrm>
            <a:off x="2133600" y="2910840"/>
            <a:ext cx="396240" cy="396240"/>
          </a:xfrm>
          <a:prstGeom prst="rect">
            <a:avLst/>
          </a:prstGeom>
          <a:solidFill>
            <a:srgbClr val="D9682B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4" name="cell-4-5"/>
          <p:cNvSpPr/>
          <p:nvPr/>
        </p:nvSpPr>
        <p:spPr>
          <a:xfrm>
            <a:off x="2529840" y="291084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5" name="cell-4-6"/>
          <p:cNvSpPr/>
          <p:nvPr/>
        </p:nvSpPr>
        <p:spPr>
          <a:xfrm>
            <a:off x="2926080" y="291084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6" name="cell-4-7"/>
          <p:cNvSpPr/>
          <p:nvPr/>
        </p:nvSpPr>
        <p:spPr>
          <a:xfrm>
            <a:off x="3322320" y="291084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7" name="cell-4-8"/>
          <p:cNvSpPr/>
          <p:nvPr/>
        </p:nvSpPr>
        <p:spPr>
          <a:xfrm>
            <a:off x="3718560" y="291084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8" name="cell-5-0"/>
          <p:cNvSpPr/>
          <p:nvPr/>
        </p:nvSpPr>
        <p:spPr>
          <a:xfrm>
            <a:off x="548640" y="33070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49" name="cell-5-1"/>
          <p:cNvSpPr/>
          <p:nvPr/>
        </p:nvSpPr>
        <p:spPr>
          <a:xfrm>
            <a:off x="944880" y="33070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0" name="cell-5-2"/>
          <p:cNvSpPr/>
          <p:nvPr/>
        </p:nvSpPr>
        <p:spPr>
          <a:xfrm>
            <a:off x="1341120" y="33070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1" name="cell-5-3"/>
          <p:cNvSpPr/>
          <p:nvPr/>
        </p:nvSpPr>
        <p:spPr>
          <a:xfrm>
            <a:off x="1737360" y="330708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2" name="cell-5-4"/>
          <p:cNvSpPr/>
          <p:nvPr/>
        </p:nvSpPr>
        <p:spPr>
          <a:xfrm>
            <a:off x="2133600" y="330708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3" name="cell-5-5"/>
          <p:cNvSpPr/>
          <p:nvPr/>
        </p:nvSpPr>
        <p:spPr>
          <a:xfrm>
            <a:off x="2529840" y="330708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4" name="cell-5-6"/>
          <p:cNvSpPr/>
          <p:nvPr/>
        </p:nvSpPr>
        <p:spPr>
          <a:xfrm>
            <a:off x="2926080" y="33070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5" name="cell-5-7"/>
          <p:cNvSpPr/>
          <p:nvPr/>
        </p:nvSpPr>
        <p:spPr>
          <a:xfrm>
            <a:off x="3322320" y="33070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6" name="cell-5-8"/>
          <p:cNvSpPr/>
          <p:nvPr/>
        </p:nvSpPr>
        <p:spPr>
          <a:xfrm>
            <a:off x="3718560" y="330708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7" name="cell-6-0"/>
          <p:cNvSpPr/>
          <p:nvPr/>
        </p:nvSpPr>
        <p:spPr>
          <a:xfrm>
            <a:off x="548640" y="37033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8" name="cell-6-1"/>
          <p:cNvSpPr/>
          <p:nvPr/>
        </p:nvSpPr>
        <p:spPr>
          <a:xfrm>
            <a:off x="944880" y="37033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59" name="cell-6-2"/>
          <p:cNvSpPr/>
          <p:nvPr/>
        </p:nvSpPr>
        <p:spPr>
          <a:xfrm>
            <a:off x="1341120" y="37033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0" name="cell-6-3"/>
          <p:cNvSpPr/>
          <p:nvPr/>
        </p:nvSpPr>
        <p:spPr>
          <a:xfrm>
            <a:off x="1737360" y="37033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1" name="cell-6-4"/>
          <p:cNvSpPr/>
          <p:nvPr/>
        </p:nvSpPr>
        <p:spPr>
          <a:xfrm>
            <a:off x="2133600" y="370332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2" name="cell-6-5"/>
          <p:cNvSpPr/>
          <p:nvPr/>
        </p:nvSpPr>
        <p:spPr>
          <a:xfrm>
            <a:off x="2529840" y="37033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3" name="cell-6-6"/>
          <p:cNvSpPr/>
          <p:nvPr/>
        </p:nvSpPr>
        <p:spPr>
          <a:xfrm>
            <a:off x="2926080" y="37033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4" name="cell-6-7"/>
          <p:cNvSpPr/>
          <p:nvPr/>
        </p:nvSpPr>
        <p:spPr>
          <a:xfrm>
            <a:off x="3322320" y="37033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5" name="cell-6-8"/>
          <p:cNvSpPr/>
          <p:nvPr/>
        </p:nvSpPr>
        <p:spPr>
          <a:xfrm>
            <a:off x="3718560" y="370332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6" name="cell-7-0"/>
          <p:cNvSpPr/>
          <p:nvPr/>
        </p:nvSpPr>
        <p:spPr>
          <a:xfrm>
            <a:off x="548640" y="40995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7" name="cell-7-1"/>
          <p:cNvSpPr/>
          <p:nvPr/>
        </p:nvSpPr>
        <p:spPr>
          <a:xfrm>
            <a:off x="944880" y="40995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8" name="cell-7-2"/>
          <p:cNvSpPr/>
          <p:nvPr/>
        </p:nvSpPr>
        <p:spPr>
          <a:xfrm>
            <a:off x="1341120" y="40995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69" name="cell-7-3"/>
          <p:cNvSpPr/>
          <p:nvPr/>
        </p:nvSpPr>
        <p:spPr>
          <a:xfrm>
            <a:off x="1737360" y="40995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0" name="cell-7-4"/>
          <p:cNvSpPr/>
          <p:nvPr/>
        </p:nvSpPr>
        <p:spPr>
          <a:xfrm>
            <a:off x="2133600" y="409956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1" name="cell-7-5"/>
          <p:cNvSpPr/>
          <p:nvPr/>
        </p:nvSpPr>
        <p:spPr>
          <a:xfrm>
            <a:off x="2529840" y="40995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2" name="cell-7-6"/>
          <p:cNvSpPr/>
          <p:nvPr/>
        </p:nvSpPr>
        <p:spPr>
          <a:xfrm>
            <a:off x="2926080" y="40995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3" name="cell-7-7"/>
          <p:cNvSpPr/>
          <p:nvPr/>
        </p:nvSpPr>
        <p:spPr>
          <a:xfrm>
            <a:off x="3322320" y="40995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4" name="cell-7-8"/>
          <p:cNvSpPr/>
          <p:nvPr/>
        </p:nvSpPr>
        <p:spPr>
          <a:xfrm>
            <a:off x="3718560" y="409956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5" name="cell-8-0"/>
          <p:cNvSpPr/>
          <p:nvPr/>
        </p:nvSpPr>
        <p:spPr>
          <a:xfrm>
            <a:off x="548640" y="44958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6" name="cell-8-1"/>
          <p:cNvSpPr/>
          <p:nvPr/>
        </p:nvSpPr>
        <p:spPr>
          <a:xfrm>
            <a:off x="944880" y="44958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7" name="cell-8-2"/>
          <p:cNvSpPr/>
          <p:nvPr/>
        </p:nvSpPr>
        <p:spPr>
          <a:xfrm>
            <a:off x="1341120" y="44958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8" name="cell-8-3"/>
          <p:cNvSpPr/>
          <p:nvPr/>
        </p:nvSpPr>
        <p:spPr>
          <a:xfrm>
            <a:off x="1737360" y="44958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79" name="cell-8-4"/>
          <p:cNvSpPr/>
          <p:nvPr/>
        </p:nvSpPr>
        <p:spPr>
          <a:xfrm>
            <a:off x="2133600" y="4495800"/>
            <a:ext cx="396240" cy="396240"/>
          </a:xfrm>
          <a:prstGeom prst="rect">
            <a:avLst/>
          </a:prstGeom>
          <a:solidFill>
            <a:srgbClr val="F6D9C6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80" name="cell-8-5"/>
          <p:cNvSpPr/>
          <p:nvPr/>
        </p:nvSpPr>
        <p:spPr>
          <a:xfrm>
            <a:off x="2529840" y="44958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81" name="cell-8-6"/>
          <p:cNvSpPr/>
          <p:nvPr/>
        </p:nvSpPr>
        <p:spPr>
          <a:xfrm>
            <a:off x="2926080" y="44958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82" name="cell-8-7"/>
          <p:cNvSpPr/>
          <p:nvPr/>
        </p:nvSpPr>
        <p:spPr>
          <a:xfrm>
            <a:off x="3322320" y="44958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83" name="cell-8-8"/>
          <p:cNvSpPr/>
          <p:nvPr/>
        </p:nvSpPr>
        <p:spPr>
          <a:xfrm>
            <a:off x="3718560" y="4495800"/>
            <a:ext cx="396240" cy="396240"/>
          </a:xfrm>
          <a:prstGeom prst="rect">
            <a:avLst/>
          </a:prstGeom>
          <a:solidFill>
            <a:srgbClr val="FFFFFF"/>
          </a:solidFill>
          <a:ln w="6350">
            <a:solidFill>
              <a:srgbClr val="B7C0C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8640" y="1325880"/>
            <a:ext cx="0" cy="356616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640" y="1325880"/>
            <a:ext cx="3566160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737360" y="1325880"/>
            <a:ext cx="0" cy="356616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8640" y="2514600"/>
            <a:ext cx="3566160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926080" y="1325880"/>
            <a:ext cx="0" cy="356616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" y="3703320"/>
            <a:ext cx="3566160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14800" y="1325880"/>
            <a:ext cx="0" cy="356616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48640" y="4892040"/>
            <a:ext cx="3566160" cy="0"/>
          </a:xfrm>
          <a:prstGeom prst="line">
            <a:avLst/>
          </a:prstGeom>
          <a:noFill/>
          <a:ln w="25400">
            <a:solidFill>
              <a:srgbClr val="1B2333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2133600" y="2910840"/>
            <a:ext cx="39624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800" dirty="0"/>
          </a:p>
        </p:txBody>
      </p:sp>
      <p:sp>
        <p:nvSpPr>
          <p:cNvPr id="93" name="Text 91"/>
          <p:cNvSpPr txBox="1"/>
          <p:nvPr/>
        </p:nvSpPr>
        <p:spPr>
          <a:xfrm>
            <a:off x="548640" y="50292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1. One variable X (orange) and the 20 cells it constrains (tint). Figure by Team AMZ.</a:t>
            </a:r>
            <a:endParaRPr lang="en-US" sz="1800" dirty="0"/>
          </a:p>
        </p:txBody>
      </p:sp>
      <p:sp>
        <p:nvSpPr>
          <p:cNvPr id="94" name="Text 92"/>
          <p:cNvSpPr txBox="1"/>
          <p:nvPr/>
        </p:nvSpPr>
        <p:spPr>
          <a:xfrm>
            <a:off x="4572000" y="1280160"/>
            <a:ext cx="7071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representation: factored</a:t>
            </a:r>
            <a:endParaRPr lang="en-US" sz="2000" dirty="0"/>
          </a:p>
        </p:txBody>
      </p:sp>
      <p:sp>
        <p:nvSpPr>
          <p:cNvPr id="95" name="Text 93"/>
          <p:cNvSpPr txBox="1"/>
          <p:nvPr/>
        </p:nvSpPr>
        <p:spPr>
          <a:xfrm>
            <a:off x="4572000" y="1673352"/>
            <a:ext cx="70710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variables, domains {1…9}, 27 all-different constraints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MRV, forward checking and AC-3 read individual domains; an atomic state would hide them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and units never change, so a structured (first-order) model adds nothing</a:t>
            </a:r>
            <a:endParaRPr lang="en-US" sz="1800" dirty="0"/>
          </a:p>
        </p:txBody>
      </p:sp>
      <p:sp>
        <p:nvSpPr>
          <p:cNvPr id="96" name="Text 94"/>
          <p:cNvSpPr txBox="1"/>
          <p:nvPr/>
        </p:nvSpPr>
        <p:spPr>
          <a:xfrm>
            <a:off x="4572000" y="3566160"/>
            <a:ext cx="7071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AI, and which course material</a:t>
            </a:r>
            <a:endParaRPr lang="en-US" sz="2000" dirty="0"/>
          </a:p>
        </p:txBody>
      </p:sp>
      <p:sp>
        <p:nvSpPr>
          <p:cNvPr id="97" name="Text 95"/>
          <p:cNvSpPr txBox="1"/>
          <p:nvPr/>
        </p:nvSpPr>
        <p:spPr>
          <a:xfrm>
            <a:off x="4572000" y="3959352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Sudoku is NP-complete [1]; brute force does not scale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material: Ch. 6 CSPs (backtracking, MRV, FC, AC-3/MAC); Ch. 3 search (nodes expanded)</a:t>
            </a:r>
            <a:endParaRPr lang="en-US" sz="1800" dirty="0"/>
          </a:p>
        </p:txBody>
      </p:sp>
      <p:sp>
        <p:nvSpPr>
          <p:cNvPr id="98" name="Text 96"/>
          <p:cNvSpPr txBox="1"/>
          <p:nvPr/>
        </p:nvSpPr>
        <p:spPr>
          <a:xfrm>
            <a:off x="4572000" y="5166360"/>
            <a:ext cx="7071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and baseline</a:t>
            </a:r>
            <a:endParaRPr lang="en-US" sz="2000" dirty="0"/>
          </a:p>
        </p:txBody>
      </p:sp>
      <p:sp>
        <p:nvSpPr>
          <p:cNvPr id="99" name="Text 97"/>
          <p:cNvSpPr txBox="1"/>
          <p:nvPr/>
        </p:nvSpPr>
        <p:spPr>
          <a:xfrm>
            <a:off x="4572000" y="5559552"/>
            <a:ext cx="7071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expanded, backtracks, solve time, completion rate (60 s)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plain backtracking (BT); BT+MRV for the added effect of propagation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1 (Masaki): Maji &amp; Pal, minigrid backtracking</a:t>
            </a:r>
            <a:endParaRPr lang="en-US" sz="3200" dirty="0"/>
          </a:p>
        </p:txBody>
      </p:sp>
      <p:sp>
        <p:nvSpPr>
          <p:cNvPr id="3" name="citation-card"/>
          <p:cNvSpPr/>
          <p:nvPr/>
        </p:nvSpPr>
        <p:spPr>
          <a:xfrm>
            <a:off x="548640" y="1234440"/>
            <a:ext cx="11094415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K. Maji and R. K. Pal, "Sudoku solver using minigrid based backtracking," in Proc. IEEE Int. Advance Comput. Conf. (IACC), Gurgaon, India, Feb. 2014, pp. 36–44, doi: 10.1109/IAdCC.2014.6779291.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(checked Oct. 12, 2026) 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by: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Masaki Kajikuri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Cell-by-cell backtracking guesses and repeats work on 9×9 Sudoku.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38218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338218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only the valid digit orders for each 3×3 minigrid, then backtrack over 9 minigrids instead of 81 cells.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127797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data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127797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9×9 examples only; no benchmark set and no timing study.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(numbers)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minigrid: 5 blanks give 5! = 120 orders, only 7 valid (94% pruned).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38218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338218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named fixes for backtracking: constraint propagation, forward checking, most-constrained cell first.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27797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differently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7797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nodes and backtracks on 500 rated puzzles; keep a cell-based CSP so each technique is isolated.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2 (Zachary): Kamal et al., three solvers compared</a:t>
            </a:r>
            <a:endParaRPr lang="en-US" sz="3200" dirty="0"/>
          </a:p>
        </p:txBody>
      </p:sp>
      <p:sp>
        <p:nvSpPr>
          <p:cNvPr id="3" name="citation-card"/>
          <p:cNvSpPr/>
          <p:nvPr/>
        </p:nvSpPr>
        <p:spPr>
          <a:xfrm>
            <a:off x="548640" y="1234440"/>
            <a:ext cx="11094415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Kamal, S. S. Chawla, and N. Goel, "Detection of Sudoku puzzle using image processing and solving by backtracking, simulated annealing and genetic algorithms: A comparative analysis," in Proc. 3rd Int. Conf. Image Inf. Process. (ICIIP), Waknaghat, India, Dec. 2015, pp. 179–184, doi: 10.1109/ICIIP.2015.7414762.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(checked Oct. 12, 2026) 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by: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 Lenfesty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Sudoku from a camera photo, then find which solver works best.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38218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338218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Thresholding, Hough transform and OCR; then backtracking, simulated annealing, genetic algorithm.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127797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data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127797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photos for detection; 9×9 puzzles from 68 to 17 clues; 3600 s limit.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(numbers)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73.33% of photos read fully; 98.835% of digits found. All solvers slow as clues drop; backtracking judged best.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38218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338218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backtracking as the baseline; a hard time cap; effort plotted on a log scale against clues.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27797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differently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7797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 input; count nodes and backtracks, not only time; check that each puzzle has one solution.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Paper 3 (Aoto): Jana et al., MRV and elimination rules</a:t>
            </a:r>
            <a:endParaRPr lang="en-US" sz="3200" dirty="0"/>
          </a:p>
        </p:txBody>
      </p:sp>
      <p:sp>
        <p:nvSpPr>
          <p:cNvPr id="3" name="citation-card"/>
          <p:cNvSpPr/>
          <p:nvPr/>
        </p:nvSpPr>
        <p:spPr>
          <a:xfrm>
            <a:off x="548640" y="1234440"/>
            <a:ext cx="11094415" cy="1481328"/>
          </a:xfrm>
          <a:prstGeom prst="roundRect">
            <a:avLst>
              <a:gd name="adj" fmla="val 49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2588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Jana, M. Mallik, A. Khan, A. K. Maji, and R. K. Pal, "Design and analysis of a modified 3D Sudoku solver," IEEE Access, vol. 11, pp. 27352–27368, 2023, doi: 10.1109/ACCESS.2023.3256420.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2860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Scopus 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(checked Oct. 12, 2026)   </a:t>
            </a:r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by: </a:t>
            </a:r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Aoto Kubota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backtracking solver for 3D (9×9×9) Sudoku failed beyond easy puzzles.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338218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338218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list per blank cell, fewest candidates first (MRV), elimination rules, then backtracking.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127797" y="292608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data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127797" y="331012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instances from menneske.no: 34 easy, 21 moderate, 20 hard (180–542 blanks).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(numbers)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solver: 34/34 easy, 1/21 moderate. New solver: all 55 easy and moderate; layered version: all 75.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338218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take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338218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ordering and a per-cell candidate list, the basis of our MRV, FC and MAC models.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127797" y="4800600"/>
            <a:ext cx="35152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 differently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27797" y="5184648"/>
            <a:ext cx="351525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9×9 only; add one technique at a time instead of bundling rules; count nodes.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sources (not peer reviewed)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297680"/>
                <a:gridCol w="37792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took from 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dataset: 3 Million Sudoku Puzzles with Ratings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kaggle.com/datasets/radcliffe/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3-million-sudoku-puzzles-with-ratings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500 test puzzles, their solutions, clue counts and ratings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OpenML copy of the same dataset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2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api.openml.org/d/43476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rating is made: mean search-tree depth over 10 solver runs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Bhattarai et al., arXiv:2507.09708 (preprint)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3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arxiv.org/abs/2507.09708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idea: backtracking vs. MRV heuristic solver, difficulty set by clue count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Berggren &amp; Nilsson, KTH bachelor thesis (2012)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4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KTH thesis abstract page (csc.kth.se)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17-clue puzzles are not always harder than 30-clue ones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Russell &amp; Norvig, AIMA 4th ed. (course textbook)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u="sng" dirty="0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aima.cs.berkeley.edu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Definitions of backtracking, MRV, forward checking and AC-3 (Ch. 6)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we plan to use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91840"/>
                <a:gridCol w="3230575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use 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Fewest-candidates-first cell order (MRV)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Jana et al. [3]; Maji &amp; Pal [1]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BT+MRV and every later 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a candidate list for every blank cell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Jana et al. [3]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 store for FC and MAC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checking and constraint propagation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Maji &amp; Pal [1]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BT+MRV+FC and BT+MRV+MAC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time cap; report unsolved runs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Kamal et al. [2] (3600 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 cap + completion 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effort on a log scale vs. clue count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Kamal et al. [2], Fig. 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figure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Clue count is a weak difficulty label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Berggren &amp; Nilsson; Jana et al. [3]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RQ2: Spearman ρ vs. rating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solvers on one CSP model, each adding one technique</a:t>
            </a:r>
            <a:endParaRPr lang="en-US" sz="3200" dirty="0"/>
          </a:p>
        </p:txBody>
      </p:sp>
      <p:sp>
        <p:nvSpPr>
          <p:cNvPr id="3" name="model-0"/>
          <p:cNvSpPr/>
          <p:nvPr/>
        </p:nvSpPr>
        <p:spPr>
          <a:xfrm>
            <a:off x="548640" y="1325880"/>
            <a:ext cx="25146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904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Masaki (baseline)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cell order; checks constraints on each placement</a:t>
            </a:r>
            <a:endParaRPr lang="en-US" sz="1800" dirty="0"/>
          </a:p>
        </p:txBody>
      </p:sp>
      <p:sp>
        <p:nvSpPr>
          <p:cNvPr id="7" name="arrow-0"/>
          <p:cNvSpPr/>
          <p:nvPr/>
        </p:nvSpPr>
        <p:spPr>
          <a:xfrm>
            <a:off x="3099816" y="2354580"/>
            <a:ext cx="265176" cy="274320"/>
          </a:xfrm>
          <a:prstGeom prst="rightArrow">
            <a:avLst/>
          </a:prstGeom>
          <a:solidFill>
            <a:srgbClr val="D9682B"/>
          </a:solidFill>
          <a:ln w="12700">
            <a:solidFill>
              <a:srgbClr val="D9682B"/>
            </a:solidFill>
            <a:prstDash val="solid"/>
          </a:ln>
        </p:spPr>
      </p:sp>
      <p:sp>
        <p:nvSpPr>
          <p:cNvPr id="8" name="model-1"/>
          <p:cNvSpPr/>
          <p:nvPr/>
        </p:nvSpPr>
        <p:spPr>
          <a:xfrm>
            <a:off x="3401568" y="1325880"/>
            <a:ext cx="25146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14904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BT+MRV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Masaki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3317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cell with the fewest legal values</a:t>
            </a:r>
            <a:endParaRPr lang="en-US" sz="1800" dirty="0"/>
          </a:p>
        </p:txBody>
      </p:sp>
      <p:sp>
        <p:nvSpPr>
          <p:cNvPr id="12" name="arrow-1"/>
          <p:cNvSpPr/>
          <p:nvPr/>
        </p:nvSpPr>
        <p:spPr>
          <a:xfrm>
            <a:off x="5952744" y="2354580"/>
            <a:ext cx="265176" cy="274320"/>
          </a:xfrm>
          <a:prstGeom prst="rightArrow">
            <a:avLst/>
          </a:prstGeom>
          <a:solidFill>
            <a:srgbClr val="D9682B"/>
          </a:solidFill>
          <a:ln w="12700">
            <a:solidFill>
              <a:srgbClr val="D9682B"/>
            </a:solidFill>
            <a:prstDash val="solid"/>
          </a:ln>
        </p:spPr>
      </p:sp>
      <p:sp>
        <p:nvSpPr>
          <p:cNvPr id="13" name="model-2"/>
          <p:cNvSpPr/>
          <p:nvPr/>
        </p:nvSpPr>
        <p:spPr>
          <a:xfrm>
            <a:off x="6254496" y="1325880"/>
            <a:ext cx="25146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14904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BT+MRV+FC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Zachary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23317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move, removes that value from neighbors' domains</a:t>
            </a:r>
            <a:endParaRPr lang="en-US" sz="1800" dirty="0"/>
          </a:p>
        </p:txBody>
      </p:sp>
      <p:sp>
        <p:nvSpPr>
          <p:cNvPr id="17" name="arrow-2"/>
          <p:cNvSpPr/>
          <p:nvPr/>
        </p:nvSpPr>
        <p:spPr>
          <a:xfrm>
            <a:off x="8805672" y="2354580"/>
            <a:ext cx="265176" cy="274320"/>
          </a:xfrm>
          <a:prstGeom prst="rightArrow">
            <a:avLst/>
          </a:prstGeom>
          <a:solidFill>
            <a:srgbClr val="D9682B"/>
          </a:solidFill>
          <a:ln w="12700">
            <a:solidFill>
              <a:srgbClr val="D9682B"/>
            </a:solidFill>
            <a:prstDash val="solid"/>
          </a:ln>
        </p:spPr>
      </p:sp>
      <p:sp>
        <p:nvSpPr>
          <p:cNvPr id="18" name="model-3"/>
          <p:cNvSpPr/>
          <p:nvPr/>
        </p:nvSpPr>
        <p:spPr>
          <a:xfrm>
            <a:off x="9107424" y="1325880"/>
            <a:ext cx="25146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90304" y="14904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BT+MRV+MAC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290304" y="19202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Aoto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90304" y="23317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AC-3 after each move so pruning spreads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749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 Model ladder: each step adds one technique to the one before. Figure by Team AMZ.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instances (same for all four)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45152"/>
            <a:ext cx="5364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puzzles from the Kaggle rated set (3 million)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per rating band; 19–31 clues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puzzles with exactly one solution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278728" y="425196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and baseline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278728" y="4645152"/>
            <a:ext cx="53643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backtracks, time, completion rate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BT (total) and vs. BT+MRV (propagation)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ρ: clue count and rating vs. nodes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Week-by-week plan and the risks we see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9494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920240"/>
                <a:gridCol w="192024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of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Masaki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Zachary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19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Repo, shared CSP 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Data: sample, filter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AC-3 design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 + counters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checking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AC-3 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 tests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 on MRV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on 50 puzzles; check every solution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runs: each member runs own model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RQ1 tables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RQ2 Spearman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30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 and presentation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280160"/>
            <a:ext cx="3779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→ what we will do</a:t>
            </a:r>
            <a:endParaRPr lang="en-US" sz="2000" dirty="0"/>
          </a:p>
        </p:txBody>
      </p:sp>
      <p:sp>
        <p:nvSpPr>
          <p:cNvPr id="5" name="risk-0"/>
          <p:cNvSpPr/>
          <p:nvPr/>
        </p:nvSpPr>
        <p:spPr>
          <a:xfrm>
            <a:off x="7863840" y="1737360"/>
            <a:ext cx="3779215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82880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 times out on hard puzzles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176272"/>
            <a:ext cx="3413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 cap; compare nodes only where all four finish</a:t>
            </a:r>
            <a:endParaRPr lang="en-US" sz="1800" dirty="0"/>
          </a:p>
        </p:txBody>
      </p:sp>
      <p:sp>
        <p:nvSpPr>
          <p:cNvPr id="8" name="risk-1"/>
          <p:cNvSpPr/>
          <p:nvPr/>
        </p:nvSpPr>
        <p:spPr>
          <a:xfrm>
            <a:off x="7863840" y="2907792"/>
            <a:ext cx="3779215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299923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bug returns a wrong grid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346704"/>
            <a:ext cx="3413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result against the dataset's solution</a:t>
            </a:r>
            <a:endParaRPr lang="en-US" sz="1800" dirty="0"/>
          </a:p>
        </p:txBody>
      </p:sp>
      <p:sp>
        <p:nvSpPr>
          <p:cNvPr id="11" name="risk-2"/>
          <p:cNvSpPr/>
          <p:nvPr/>
        </p:nvSpPr>
        <p:spPr>
          <a:xfrm>
            <a:off x="7863840" y="4078224"/>
            <a:ext cx="3779215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46720" y="4169664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overhead hides MAC's gains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517136"/>
            <a:ext cx="3413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and backtracks are the main measures</a:t>
            </a:r>
            <a:endParaRPr lang="en-US" sz="1800" dirty="0"/>
          </a:p>
        </p:txBody>
      </p:sp>
      <p:sp>
        <p:nvSpPr>
          <p:cNvPr id="14" name="risk-3"/>
          <p:cNvSpPr/>
          <p:nvPr/>
        </p:nvSpPr>
        <p:spPr>
          <a:xfrm>
            <a:off x="7863840" y="5248656"/>
            <a:ext cx="3779215" cy="1078992"/>
          </a:xfrm>
          <a:prstGeom prst="roundRect">
            <a:avLst>
              <a:gd name="adj" fmla="val 678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46720" y="5340096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also comes from a solver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5687568"/>
            <a:ext cx="34134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RQ2 as agreement, not proof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did what for this submission</a:t>
            </a:r>
            <a:endParaRPr lang="en-US" sz="3200" dirty="0"/>
          </a:p>
        </p:txBody>
      </p:sp>
      <p:sp>
        <p:nvSpPr>
          <p:cNvPr id="3" name="person-0"/>
          <p:cNvSpPr/>
          <p:nvPr/>
        </p:nvSpPr>
        <p:spPr>
          <a:xfrm>
            <a:off x="548640" y="1280160"/>
            <a:ext cx="3515258" cy="507492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Masaki Kajikuri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Maji &amp; Pal [1]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1, 2, 4, 9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05805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the dataset and checked how its rating is made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problem, scope and state representation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Scopus status and citations for all 3 papers</a:t>
            </a:r>
            <a:endParaRPr lang="en-US" sz="1800" dirty="0"/>
          </a:p>
        </p:txBody>
      </p:sp>
      <p:sp>
        <p:nvSpPr>
          <p:cNvPr id="8" name="person-1"/>
          <p:cNvSpPr/>
          <p:nvPr/>
        </p:nvSpPr>
        <p:spPr>
          <a:xfrm>
            <a:off x="4338218" y="1280160"/>
            <a:ext cx="3515258" cy="507492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6818" y="1463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Zachary Lenfesty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1965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Kamal et al. [2]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 5, 7, 10 (timeline)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80360"/>
            <a:ext cx="305805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Kamal et al. in full and wrote all 7 fields from its Results section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Fig. 1 and the measures on slide 3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Other Sources link and wrote what we took from each</a:t>
            </a:r>
            <a:endParaRPr lang="en-US" sz="1800" dirty="0"/>
          </a:p>
        </p:txBody>
      </p:sp>
      <p:sp>
        <p:nvSpPr>
          <p:cNvPr id="13" name="person-2"/>
          <p:cNvSpPr/>
          <p:nvPr/>
        </p:nvSpPr>
        <p:spPr>
          <a:xfrm>
            <a:off x="8127797" y="1280160"/>
            <a:ext cx="3515258" cy="5074920"/>
          </a:xfrm>
          <a:prstGeom prst="roundRect">
            <a:avLst>
              <a:gd name="adj" fmla="val 208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463040"/>
            <a:ext cx="30580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Aoto Kubota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19659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et al. [3]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56397" y="233172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 8, 10 (risks), 11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56397" y="2880360"/>
            <a:ext cx="305805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Jana et al. in full and took the results from Tables 5–7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ideas table, tying each idea to its source</a:t>
            </a:r>
            <a:endParaRPr lang="en-US" sz="18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four risks and fixes; ran the timed rehearsal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tx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doku Ink">
  <a:themeElements>
    <a:clrScheme name="Sudoku Ink">
      <a:dk1>
        <a:srgbClr val="1B2333"/>
      </a:dk1>
      <a:lt1>
        <a:srgbClr val="FFFFFF"/>
      </a:lt1>
      <a:dk2>
        <a:srgbClr val="3B4658"/>
      </a:dk2>
      <a:lt2>
        <a:srgbClr val="EEF2F6"/>
      </a:lt2>
      <a:accent1>
        <a:srgbClr val="D9682B"/>
      </a:accent1>
      <a:accent2>
        <a:srgbClr val="2F6F8F"/>
      </a:accent2>
      <a:accent3>
        <a:srgbClr val="5E8C61"/>
      </a:accent3>
      <a:accent4>
        <a:srgbClr val="B8892A"/>
      </a:accent4>
      <a:accent5>
        <a:srgbClr val="7A5C8E"/>
      </a:accent5>
      <a:accent6>
        <a:srgbClr val="9AA5B1"/>
      </a:accent6>
      <a:hlink>
        <a:srgbClr val="2F6F8F"/>
      </a:hlink>
      <a:folHlink>
        <a:srgbClr val="7A5C8E"/>
      </a:folHlink>
    </a:clrScheme>
    <a:fontScheme name="Sudoku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AMZ Proposal: Constraint Propagation in Sudoku Solvers</dc:title>
  <dc:subject>PptxGenJS Presentation</dc:subject>
  <dc:creator>Team AMZ</dc:creator>
  <cp:lastModifiedBy>Team AMZ</cp:lastModifiedBy>
  <cp:revision>1</cp:revision>
  <dcterms:created xsi:type="dcterms:W3CDTF">2026-10-18T02:38:43Z</dcterms:created>
  <dcterms:modified xsi:type="dcterms:W3CDTF">2026-10-18T02:38:43Z</dcterms:modified>
</cp:coreProperties>
</file>